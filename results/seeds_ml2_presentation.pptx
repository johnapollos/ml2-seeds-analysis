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731520" y="1097280"/>
            <a:ext cx="10728655" cy="320040"/>
          </a:xfrm>
          <a:prstGeom prst="rect">
            <a:avLst/>
          </a:prstGeom>
          <a:noFill/>
        </p:spPr>
        <p:txBody>
          <a:bodyPr wrap="square">
            <a:spAutoFit/>
          </a:bodyPr>
          <a:lstStyle/>
          <a:p>
            <a:pPr algn="l">
              <a:defRPr sz="1200" b="1">
                <a:solidFill>
                  <a:srgbClr val="9F2F2F"/>
                </a:solidFill>
                <a:latin typeface="Work Sans"/>
              </a:defRPr>
            </a:pPr>
            <a:r>
              <a:t>Seeds ML2 · Final Evaluation Report</a:t>
            </a:r>
          </a:p>
        </p:txBody>
      </p:sp>
      <p:sp>
        <p:nvSpPr>
          <p:cNvPr id="3" name="TextBox 2"/>
          <p:cNvSpPr txBox="1"/>
          <p:nvPr/>
        </p:nvSpPr>
        <p:spPr>
          <a:xfrm>
            <a:off x="731520" y="1508760"/>
            <a:ext cx="10728655" cy="1280160"/>
          </a:xfrm>
          <a:prstGeom prst="rect">
            <a:avLst/>
          </a:prstGeom>
          <a:noFill/>
        </p:spPr>
        <p:txBody>
          <a:bodyPr wrap="square">
            <a:spAutoFit/>
          </a:bodyPr>
          <a:lstStyle/>
          <a:p>
            <a:pPr algn="l">
              <a:defRPr sz="4400" b="1">
                <a:solidFill>
                  <a:srgbClr val="22201C"/>
                </a:solidFill>
                <a:latin typeface="Fraunces"/>
              </a:defRPr>
            </a:pPr>
            <a:r>
              <a:t>Wheat Seed Classification</a:t>
            </a:r>
          </a:p>
        </p:txBody>
      </p:sp>
      <p:sp>
        <p:nvSpPr>
          <p:cNvPr id="4" name="TextBox 3"/>
          <p:cNvSpPr txBox="1"/>
          <p:nvPr/>
        </p:nvSpPr>
        <p:spPr>
          <a:xfrm>
            <a:off x="731520" y="2971800"/>
            <a:ext cx="8229600" cy="640080"/>
          </a:xfrm>
          <a:prstGeom prst="rect">
            <a:avLst/>
          </a:prstGeom>
          <a:noFill/>
        </p:spPr>
        <p:txBody>
          <a:bodyPr wrap="square">
            <a:spAutoFit/>
          </a:bodyPr>
          <a:lstStyle/>
          <a:p>
            <a:pPr algn="l">
              <a:defRPr sz="1600" b="0">
                <a:solidFill>
                  <a:srgbClr val="595754"/>
                </a:solidFill>
                <a:latin typeface="Work Sans"/>
              </a:defRPr>
            </a:pPr>
            <a:r>
              <a:t>A high-detail presentation of the JKUAT machine learning study on classifying Kama, Rosa, and Canadian wheat varieties using supervised learning, clustering, and statistical testing.</a:t>
            </a:r>
          </a:p>
        </p:txBody>
      </p:sp>
      <p:sp>
        <p:nvSpPr>
          <p:cNvPr id="5" name="TextBox 4"/>
          <p:cNvSpPr txBox="1"/>
          <p:nvPr/>
        </p:nvSpPr>
        <p:spPr>
          <a:xfrm>
            <a:off x="731520" y="3794760"/>
            <a:ext cx="10728655" cy="320040"/>
          </a:xfrm>
          <a:prstGeom prst="rect">
            <a:avLst/>
          </a:prstGeom>
          <a:noFill/>
        </p:spPr>
        <p:txBody>
          <a:bodyPr wrap="square">
            <a:spAutoFit/>
          </a:bodyPr>
          <a:lstStyle/>
          <a:p>
            <a:pPr algn="l">
              <a:defRPr sz="1100" b="1">
                <a:solidFill>
                  <a:srgbClr val="C48A3A"/>
                </a:solidFill>
                <a:latin typeface="Work Sans"/>
              </a:defRPr>
            </a:pPr>
            <a:r>
              <a:t>UCI Seeds Dataset  ·  210 observations  ·  8 supervised models  ·  2 clustering methods  ·  May 2026</a:t>
            </a:r>
          </a:p>
        </p:txBody>
      </p:sp>
      <p:sp>
        <p:nvSpPr>
          <p:cNvPr id="6" name="TextBox 5"/>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JKUAT · Group D</a:t>
            </a:r>
          </a:p>
        </p:txBody>
      </p:sp>
      <p:sp>
        <p:nvSpPr>
          <p:cNvPr id="7" name="TextBox 6"/>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Project framing</a:t>
            </a:r>
          </a:p>
        </p:txBody>
      </p:sp>
      <p:sp>
        <p:nvSpPr>
          <p:cNvPr id="3" name="TextBox 2"/>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Why this problem matters</a:t>
            </a:r>
          </a:p>
        </p:txBody>
      </p:sp>
      <p:sp>
        <p:nvSpPr>
          <p:cNvPr id="4" name="TextBox 3"/>
          <p:cNvSpPr txBox="1"/>
          <p:nvPr/>
        </p:nvSpPr>
        <p:spPr>
          <a:xfrm>
            <a:off x="731520" y="1554480"/>
            <a:ext cx="8229600" cy="3474720"/>
          </a:xfrm>
          <a:prstGeom prst="rect">
            <a:avLst/>
          </a:prstGeom>
          <a:noFill/>
        </p:spPr>
        <p:txBody>
          <a:bodyPr wrap="square">
            <a:spAutoFit/>
          </a:bodyPr>
          <a:lstStyle/>
          <a:p>
            <a:pPr>
              <a:spcAft>
                <a:spcPts val="600"/>
              </a:spcAft>
              <a:defRPr sz="1400">
                <a:solidFill>
                  <a:srgbClr val="22201C"/>
                </a:solidFill>
                <a:latin typeface="Work Sans"/>
              </a:defRPr>
            </a:pPr>
            <a:r>
              <a:t>•  Wheat is a major global staple crop, so accurate variety identification matters for food quality, certification, and commercial value.</a:t>
            </a:r>
          </a:p>
          <a:p>
            <a:pPr>
              <a:spcAft>
                <a:spcPts val="600"/>
              </a:spcAft>
              <a:defRPr sz="1400">
                <a:solidFill>
                  <a:srgbClr val="22201C"/>
                </a:solidFill>
                <a:latin typeface="Work Sans"/>
              </a:defRPr>
            </a:pPr>
            <a:r>
              <a:t>•  Manual seed inspection is slow and operator-dependent, making automated classification attractive for consistency and scale.</a:t>
            </a:r>
          </a:p>
          <a:p>
            <a:pPr>
              <a:spcAft>
                <a:spcPts val="600"/>
              </a:spcAft>
              <a:defRPr sz="1400">
                <a:solidFill>
                  <a:srgbClr val="22201C"/>
                </a:solidFill>
                <a:latin typeface="Work Sans"/>
              </a:defRPr>
            </a:pPr>
            <a:r>
              <a:t>•  The report studies whether seven geometric kernel measurements can reliably separate three wheat varieties.</a:t>
            </a:r>
          </a:p>
          <a:p>
            <a:pPr>
              <a:spcAft>
                <a:spcPts val="600"/>
              </a:spcAft>
              <a:defRPr sz="1400">
                <a:solidFill>
                  <a:srgbClr val="22201C"/>
                </a:solidFill>
                <a:latin typeface="Work Sans"/>
              </a:defRPr>
            </a:pPr>
            <a:r>
              <a:t>•  Beyond raw accuracy, the team also tests whether top-performing classifiers differ meaningfully in the pattern of errors they make.</a:t>
            </a:r>
          </a:p>
          <a:p>
            <a:pPr>
              <a:spcAft>
                <a:spcPts val="600"/>
              </a:spcAft>
              <a:defRPr sz="1400">
                <a:solidFill>
                  <a:srgbClr val="22201C"/>
                </a:solidFill>
                <a:latin typeface="Work Sans"/>
              </a:defRPr>
            </a:pPr>
            <a:r>
              <a:t>•  This makes the project not just a modelling exercise, but a full evaluation and model-selection study.</a:t>
            </a:r>
          </a:p>
        </p:txBody>
      </p:sp>
      <p:sp>
        <p:nvSpPr>
          <p:cNvPr id="5" name="TextBox 4"/>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Introduction</a:t>
            </a:r>
          </a:p>
        </p:txBody>
      </p:sp>
      <p:sp>
        <p:nvSpPr>
          <p:cNvPr id="6" name="TextBox 5"/>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274320" y="91440"/>
            <a:ext cx="2286000" cy="914400"/>
          </a:xfrm>
          <a:prstGeom prst="rect">
            <a:avLst/>
          </a:prstGeom>
          <a:noFill/>
        </p:spPr>
        <p:txBody>
          <a:bodyPr wrap="square">
            <a:spAutoFit/>
          </a:bodyPr>
          <a:lstStyle/>
          <a:p>
            <a:pPr algn="l">
              <a:defRPr sz="6400" b="1">
                <a:solidFill>
                  <a:srgbClr val="DBD6CB"/>
                </a:solidFill>
                <a:latin typeface="Work Sans"/>
              </a:defRPr>
            </a:pPr>
            <a:r>
              <a:t>02</a:t>
            </a:r>
          </a:p>
        </p:txBody>
      </p:sp>
      <p:sp>
        <p:nvSpPr>
          <p:cNvPr id="3" name="TextBox 2"/>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Dataset snapshot</a:t>
            </a:r>
          </a:p>
        </p:txBody>
      </p:sp>
      <p:sp>
        <p:nvSpPr>
          <p:cNvPr id="4" name="TextBox 3"/>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What the model learns from</a:t>
            </a:r>
          </a:p>
        </p:txBody>
      </p:sp>
      <p:sp>
        <p:nvSpPr>
          <p:cNvPr id="5" name="Rounded Rectangle 4"/>
          <p:cNvSpPr/>
          <p:nvPr/>
        </p:nvSpPr>
        <p:spPr>
          <a:xfrm>
            <a:off x="731520"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Varieties</a:t>
            </a:r>
          </a:p>
          <a:p>
            <a:pPr>
              <a:defRPr sz="1100">
                <a:solidFill>
                  <a:srgbClr val="595754"/>
                </a:solidFill>
                <a:latin typeface="Work Sans"/>
              </a:defRPr>
            </a:pPr>
            <a:r>
              <a:t>Kama, Rosa, and Canadian, with 70 samples in each class.</a:t>
            </a:r>
          </a:p>
        </p:txBody>
      </p:sp>
      <p:sp>
        <p:nvSpPr>
          <p:cNvPr id="6" name="Rounded Rectangle 5"/>
          <p:cNvSpPr/>
          <p:nvPr/>
        </p:nvSpPr>
        <p:spPr>
          <a:xfrm>
            <a:off x="4429658"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Feature set</a:t>
            </a:r>
          </a:p>
          <a:p>
            <a:pPr>
              <a:defRPr sz="1100">
                <a:solidFill>
                  <a:srgbClr val="595754"/>
                </a:solidFill>
                <a:latin typeface="Work Sans"/>
              </a:defRPr>
            </a:pPr>
            <a:r>
              <a:t>Area, perimeter, compactness, kernel length, kernel width, asymmetry coefficient, and groove length.</a:t>
            </a:r>
          </a:p>
        </p:txBody>
      </p:sp>
      <p:sp>
        <p:nvSpPr>
          <p:cNvPr id="7" name="Rounded Rectangle 6"/>
          <p:cNvSpPr/>
          <p:nvPr/>
        </p:nvSpPr>
        <p:spPr>
          <a:xfrm>
            <a:off x="8127796"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Source</a:t>
            </a:r>
          </a:p>
          <a:p>
            <a:pPr>
              <a:defRPr sz="1100">
                <a:solidFill>
                  <a:srgbClr val="595754"/>
                </a:solidFill>
                <a:latin typeface="Work Sans"/>
              </a:defRPr>
            </a:pPr>
            <a:r>
              <a:t>UCI Machine Learning Repository, used here as a clean benchmark for multi-class classification.</a:t>
            </a:r>
          </a:p>
        </p:txBody>
      </p:sp>
      <p:sp>
        <p:nvSpPr>
          <p:cNvPr id="8" name="TextBox 7"/>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Dataset description</a:t>
            </a:r>
          </a:p>
        </p:txBody>
      </p:sp>
      <p:sp>
        <p:nvSpPr>
          <p:cNvPr id="9" name="TextBox 8"/>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274320" y="91440"/>
            <a:ext cx="2286000" cy="914400"/>
          </a:xfrm>
          <a:prstGeom prst="rect">
            <a:avLst/>
          </a:prstGeom>
          <a:noFill/>
        </p:spPr>
        <p:txBody>
          <a:bodyPr wrap="square">
            <a:spAutoFit/>
          </a:bodyPr>
          <a:lstStyle/>
          <a:p>
            <a:pPr algn="l">
              <a:defRPr sz="6400" b="1">
                <a:solidFill>
                  <a:srgbClr val="DBD6CB"/>
                </a:solidFill>
                <a:latin typeface="Work Sans"/>
              </a:defRPr>
            </a:pPr>
            <a:r>
              <a:t>03</a:t>
            </a:r>
          </a:p>
        </p:txBody>
      </p:sp>
      <p:sp>
        <p:nvSpPr>
          <p:cNvPr id="3" name="TextBox 2"/>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Exploratory insights</a:t>
            </a:r>
          </a:p>
        </p:txBody>
      </p:sp>
      <p:sp>
        <p:nvSpPr>
          <p:cNvPr id="4" name="TextBox 3"/>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What the EDA revealed</a:t>
            </a:r>
          </a:p>
        </p:txBody>
      </p:sp>
      <p:sp>
        <p:nvSpPr>
          <p:cNvPr id="5" name="Rounded Rectangle 4"/>
          <p:cNvSpPr/>
          <p:nvPr/>
        </p:nvSpPr>
        <p:spPr>
          <a:xfrm>
            <a:off x="731520"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Balanced classes</a:t>
            </a:r>
          </a:p>
          <a:p>
            <a:pPr>
              <a:defRPr sz="1100">
                <a:solidFill>
                  <a:srgbClr val="595754"/>
                </a:solidFill>
                <a:latin typeface="Work Sans"/>
              </a:defRPr>
            </a:pPr>
            <a:r>
              <a:t>The dataset is perfectly balanced, so macro-averaged metrics are fair and directly comparable across varieties.</a:t>
            </a:r>
          </a:p>
        </p:txBody>
      </p:sp>
      <p:sp>
        <p:nvSpPr>
          <p:cNvPr id="6" name="Rounded Rectangle 5"/>
          <p:cNvSpPr/>
          <p:nvPr/>
        </p:nvSpPr>
        <p:spPr>
          <a:xfrm>
            <a:off x="4429658"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Feature shape</a:t>
            </a:r>
          </a:p>
          <a:p>
            <a:pPr>
              <a:defRPr sz="1100">
                <a:solidFill>
                  <a:srgbClr val="595754"/>
                </a:solidFill>
                <a:latin typeface="Work Sans"/>
              </a:defRPr>
            </a:pPr>
            <a:r>
              <a:t>Most features are approximately normal within class, reducing concern about severe distributional distortions.</a:t>
            </a:r>
          </a:p>
        </p:txBody>
      </p:sp>
      <p:sp>
        <p:nvSpPr>
          <p:cNvPr id="7" name="Rounded Rectangle 6"/>
          <p:cNvSpPr/>
          <p:nvPr/>
        </p:nvSpPr>
        <p:spPr>
          <a:xfrm>
            <a:off x="8127796"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Size signal</a:t>
            </a:r>
          </a:p>
          <a:p>
            <a:pPr>
              <a:defRPr sz="1100">
                <a:solidFill>
                  <a:srgbClr val="595754"/>
                </a:solidFill>
                <a:latin typeface="Work Sans"/>
              </a:defRPr>
            </a:pPr>
            <a:r>
              <a:t>The Canadian variety consistently appears smaller across several geometric measurements.</a:t>
            </a:r>
          </a:p>
        </p:txBody>
      </p:sp>
      <p:sp>
        <p:nvSpPr>
          <p:cNvPr id="8" name="Rounded Rectangle 7"/>
          <p:cNvSpPr/>
          <p:nvPr/>
        </p:nvSpPr>
        <p:spPr>
          <a:xfrm>
            <a:off x="731520" y="283464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Correlations</a:t>
            </a:r>
          </a:p>
          <a:p>
            <a:pPr>
              <a:defRPr sz="1100">
                <a:solidFill>
                  <a:srgbClr val="595754"/>
                </a:solidFill>
                <a:latin typeface="Work Sans"/>
              </a:defRPr>
            </a:pPr>
            <a:r>
              <a:t>Area, perimeter, kernel length, and width are strongly collinear, while compactness shows a meaningful negative relationship with size metrics.</a:t>
            </a:r>
          </a:p>
        </p:txBody>
      </p:sp>
      <p:sp>
        <p:nvSpPr>
          <p:cNvPr id="9" name="Rounded Rectangle 8"/>
          <p:cNvSpPr/>
          <p:nvPr/>
        </p:nvSpPr>
        <p:spPr>
          <a:xfrm>
            <a:off x="4429658" y="283464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PCA view</a:t>
            </a:r>
          </a:p>
          <a:p>
            <a:pPr>
              <a:defRPr sz="1100">
                <a:solidFill>
                  <a:srgbClr val="595754"/>
                </a:solidFill>
                <a:latin typeface="Work Sans"/>
              </a:defRPr>
            </a:pPr>
            <a:r>
              <a:t>The first two principal components capture about 85 percent of variance and show Canadian separating more clearly than Kama and Rosa.</a:t>
            </a:r>
          </a:p>
        </p:txBody>
      </p:sp>
      <p:sp>
        <p:nvSpPr>
          <p:cNvPr id="10" name="Rounded Rectangle 9"/>
          <p:cNvSpPr/>
          <p:nvPr/>
        </p:nvSpPr>
        <p:spPr>
          <a:xfrm>
            <a:off x="8127796" y="283464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Implication</a:t>
            </a:r>
          </a:p>
          <a:p>
            <a:pPr>
              <a:defRPr sz="1100">
                <a:solidFill>
                  <a:srgbClr val="595754"/>
                </a:solidFill>
                <a:latin typeface="Work Sans"/>
              </a:defRPr>
            </a:pPr>
            <a:r>
              <a:t>Some class overlap remains, suggesting value in flexible non-linear methods and ensembles.</a:t>
            </a:r>
          </a:p>
        </p:txBody>
      </p:sp>
      <p:sp>
        <p:nvSpPr>
          <p:cNvPr id="11" name="TextBox 10"/>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EDA</a:t>
            </a:r>
          </a:p>
        </p:txBody>
      </p:sp>
      <p:sp>
        <p:nvSpPr>
          <p:cNvPr id="12" name="TextBox 11"/>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Preprocessing pipeline</a:t>
            </a:r>
          </a:p>
        </p:txBody>
      </p:sp>
      <p:sp>
        <p:nvSpPr>
          <p:cNvPr id="3" name="TextBox 2"/>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How the data was prepared consistently</a:t>
            </a:r>
          </a:p>
        </p:txBody>
      </p:sp>
      <p:sp>
        <p:nvSpPr>
          <p:cNvPr id="4" name="TextBox 3"/>
          <p:cNvSpPr txBox="1"/>
          <p:nvPr/>
        </p:nvSpPr>
        <p:spPr>
          <a:xfrm>
            <a:off x="731520" y="1554480"/>
            <a:ext cx="8229600" cy="3474720"/>
          </a:xfrm>
          <a:prstGeom prst="rect">
            <a:avLst/>
          </a:prstGeom>
          <a:noFill/>
        </p:spPr>
        <p:txBody>
          <a:bodyPr wrap="square">
            <a:spAutoFit/>
          </a:bodyPr>
          <a:lstStyle/>
          <a:p>
            <a:pPr>
              <a:spcAft>
                <a:spcPts val="600"/>
              </a:spcAft>
              <a:defRPr sz="1400">
                <a:solidFill>
                  <a:srgbClr val="22201C"/>
                </a:solidFill>
                <a:latin typeface="Work Sans"/>
              </a:defRPr>
            </a:pPr>
            <a:r>
              <a:t>•  All 210 rows were verified complete, so no imputation was required.</a:t>
            </a:r>
          </a:p>
          <a:p>
            <a:pPr>
              <a:spcAft>
                <a:spcPts val="600"/>
              </a:spcAft>
              <a:defRPr sz="1400">
                <a:solidFill>
                  <a:srgbClr val="22201C"/>
                </a:solidFill>
                <a:latin typeface="Work Sans"/>
              </a:defRPr>
            </a:pPr>
            <a:r>
              <a:t>•  IQR-based screening found no extreme outliers serious enough to remove.</a:t>
            </a:r>
          </a:p>
          <a:p>
            <a:pPr>
              <a:spcAft>
                <a:spcPts val="600"/>
              </a:spcAft>
              <a:defRPr sz="1400">
                <a:solidFill>
                  <a:srgbClr val="22201C"/>
                </a:solidFill>
                <a:latin typeface="Work Sans"/>
              </a:defRPr>
            </a:pPr>
            <a:r>
              <a:t>•  All seven predictors were standardised with StandardScaler to zero mean and unit variance.</a:t>
            </a:r>
          </a:p>
          <a:p>
            <a:pPr>
              <a:spcAft>
                <a:spcPts val="600"/>
              </a:spcAft>
              <a:defRPr sz="1400">
                <a:solidFill>
                  <a:srgbClr val="22201C"/>
                </a:solidFill>
                <a:latin typeface="Work Sans"/>
              </a:defRPr>
            </a:pPr>
            <a:r>
              <a:t>•  The target labels were remapped from 1, 2, 3 to 0, 1, 2 for scikit-learn workflows.</a:t>
            </a:r>
          </a:p>
          <a:p>
            <a:pPr>
              <a:spcAft>
                <a:spcPts val="600"/>
              </a:spcAft>
              <a:defRPr sz="1400">
                <a:solidFill>
                  <a:srgbClr val="22201C"/>
                </a:solidFill>
                <a:latin typeface="Work Sans"/>
              </a:defRPr>
            </a:pPr>
            <a:r>
              <a:t>•  A stratified 80 by 20 split with random_state 42 produced 168 training samples and 42 test samples.</a:t>
            </a:r>
          </a:p>
          <a:p>
            <a:pPr>
              <a:spcAft>
                <a:spcPts val="600"/>
              </a:spcAft>
              <a:defRPr sz="1400">
                <a:solidFill>
                  <a:srgbClr val="22201C"/>
                </a:solidFill>
                <a:latin typeface="Work Sans"/>
              </a:defRPr>
            </a:pPr>
            <a:r>
              <a:t>•  A shared preprocessing notebook and fixed split ensured reproducibility across all group contributions.</a:t>
            </a:r>
          </a:p>
        </p:txBody>
      </p:sp>
      <p:sp>
        <p:nvSpPr>
          <p:cNvPr id="5" name="TextBox 4"/>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Preprocessing</a:t>
            </a:r>
          </a:p>
        </p:txBody>
      </p:sp>
      <p:sp>
        <p:nvSpPr>
          <p:cNvPr id="6" name="TextBox 5"/>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274320" y="91440"/>
            <a:ext cx="2286000" cy="914400"/>
          </a:xfrm>
          <a:prstGeom prst="rect">
            <a:avLst/>
          </a:prstGeom>
          <a:noFill/>
        </p:spPr>
        <p:txBody>
          <a:bodyPr wrap="square">
            <a:spAutoFit/>
          </a:bodyPr>
          <a:lstStyle/>
          <a:p>
            <a:pPr algn="l">
              <a:defRPr sz="6400" b="1">
                <a:solidFill>
                  <a:srgbClr val="DBD6CB"/>
                </a:solidFill>
                <a:latin typeface="Work Sans"/>
              </a:defRPr>
            </a:pPr>
            <a:r>
              <a:t>05</a:t>
            </a:r>
          </a:p>
        </p:txBody>
      </p:sp>
      <p:sp>
        <p:nvSpPr>
          <p:cNvPr id="3" name="TextBox 2"/>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Modeling strategy</a:t>
            </a:r>
          </a:p>
        </p:txBody>
      </p:sp>
      <p:sp>
        <p:nvSpPr>
          <p:cNvPr id="4" name="TextBox 3"/>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Three analytical layers in one report</a:t>
            </a:r>
          </a:p>
        </p:txBody>
      </p:sp>
      <p:sp>
        <p:nvSpPr>
          <p:cNvPr id="5" name="Rounded Rectangle 4"/>
          <p:cNvSpPr/>
          <p:nvPr/>
        </p:nvSpPr>
        <p:spPr>
          <a:xfrm>
            <a:off x="731520"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Supervised learning</a:t>
            </a:r>
          </a:p>
          <a:p>
            <a:pPr>
              <a:defRPr sz="1100">
                <a:solidFill>
                  <a:srgbClr val="595754"/>
                </a:solidFill>
                <a:latin typeface="Work Sans"/>
              </a:defRPr>
            </a:pPr>
            <a:r>
              <a:t>Eight classifiers were trained and compared using macro accuracy, precision, recall, and F1 on the held-out test set.</a:t>
            </a:r>
          </a:p>
        </p:txBody>
      </p:sp>
      <p:sp>
        <p:nvSpPr>
          <p:cNvPr id="6" name="Rounded Rectangle 5"/>
          <p:cNvSpPr/>
          <p:nvPr/>
        </p:nvSpPr>
        <p:spPr>
          <a:xfrm>
            <a:off x="4429658"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Unsupervised learning</a:t>
            </a:r>
          </a:p>
          <a:p>
            <a:pPr>
              <a:defRPr sz="1100">
                <a:solidFill>
                  <a:srgbClr val="595754"/>
                </a:solidFill>
                <a:latin typeface="Work Sans"/>
              </a:defRPr>
            </a:pPr>
            <a:r>
              <a:t>K-Means and Agglomerative Ward clustering were used to see whether natural structure appears even without labels.</a:t>
            </a:r>
          </a:p>
        </p:txBody>
      </p:sp>
      <p:sp>
        <p:nvSpPr>
          <p:cNvPr id="7" name="Rounded Rectangle 6"/>
          <p:cNvSpPr/>
          <p:nvPr/>
        </p:nvSpPr>
        <p:spPr>
          <a:xfrm>
            <a:off x="8127796"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Statistical testing</a:t>
            </a:r>
          </a:p>
          <a:p>
            <a:pPr>
              <a:defRPr sz="1100">
                <a:solidFill>
                  <a:srgbClr val="595754"/>
                </a:solidFill>
                <a:latin typeface="Work Sans"/>
              </a:defRPr>
            </a:pPr>
            <a:r>
              <a:t>McNemar's exact test was applied to the tied top models to check whether their error differences were statistically meaningful.</a:t>
            </a:r>
          </a:p>
        </p:txBody>
      </p:sp>
      <p:sp>
        <p:nvSpPr>
          <p:cNvPr id="8" name="TextBox 7"/>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Methodology</a:t>
            </a:r>
          </a:p>
        </p:txBody>
      </p:sp>
      <p:sp>
        <p:nvSpPr>
          <p:cNvPr id="9" name="TextBox 8"/>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731520" y="914400"/>
            <a:ext cx="10728655" cy="320040"/>
          </a:xfrm>
          <a:prstGeom prst="rect">
            <a:avLst/>
          </a:prstGeom>
          <a:noFill/>
        </p:spPr>
        <p:txBody>
          <a:bodyPr wrap="square">
            <a:spAutoFit/>
          </a:bodyPr>
          <a:lstStyle/>
          <a:p>
            <a:pPr algn="l">
              <a:defRPr sz="1200" b="1">
                <a:solidFill>
                  <a:srgbClr val="9F2F2F"/>
                </a:solidFill>
                <a:latin typeface="Work Sans"/>
              </a:defRPr>
            </a:pPr>
            <a:r>
              <a:t>Headline result</a:t>
            </a:r>
          </a:p>
        </p:txBody>
      </p:sp>
      <p:sp>
        <p:nvSpPr>
          <p:cNvPr id="3" name="TextBox 2"/>
          <p:cNvSpPr txBox="1"/>
          <p:nvPr/>
        </p:nvSpPr>
        <p:spPr>
          <a:xfrm>
            <a:off x="731520" y="1325880"/>
            <a:ext cx="10728655" cy="502920"/>
          </a:xfrm>
          <a:prstGeom prst="rect">
            <a:avLst/>
          </a:prstGeom>
          <a:noFill/>
        </p:spPr>
        <p:txBody>
          <a:bodyPr wrap="square">
            <a:spAutoFit/>
          </a:bodyPr>
          <a:lstStyle/>
          <a:p>
            <a:pPr algn="l">
              <a:defRPr sz="2800" b="1">
                <a:solidFill>
                  <a:srgbClr val="22201C"/>
                </a:solidFill>
                <a:latin typeface="Fraunces"/>
              </a:defRPr>
            </a:pPr>
            <a:r>
              <a:t>Top supervised models on the 42-sample test set</a:t>
            </a:r>
          </a:p>
        </p:txBody>
      </p:sp>
      <p:sp>
        <p:nvSpPr>
          <p:cNvPr id="4" name="TextBox 3"/>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Results · supervised</a:t>
            </a:r>
          </a:p>
        </p:txBody>
      </p:sp>
      <p:sp>
        <p:nvSpPr>
          <p:cNvPr id="5" name="TextBox 4"/>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731520" y="914400"/>
            <a:ext cx="10728655" cy="320040"/>
          </a:xfrm>
          <a:prstGeom prst="rect">
            <a:avLst/>
          </a:prstGeom>
          <a:noFill/>
        </p:spPr>
        <p:txBody>
          <a:bodyPr wrap="square">
            <a:spAutoFit/>
          </a:bodyPr>
          <a:lstStyle/>
          <a:p>
            <a:pPr algn="l">
              <a:defRPr sz="1200" b="1">
                <a:solidFill>
                  <a:srgbClr val="9F2F2F"/>
                </a:solidFill>
                <a:latin typeface="Work Sans"/>
              </a:defRPr>
            </a:pPr>
            <a:r>
              <a:t>Performance profile</a:t>
            </a:r>
          </a:p>
        </p:txBody>
      </p:sp>
      <p:sp>
        <p:nvSpPr>
          <p:cNvPr id="3" name="TextBox 2"/>
          <p:cNvSpPr txBox="1"/>
          <p:nvPr/>
        </p:nvSpPr>
        <p:spPr>
          <a:xfrm>
            <a:off x="731520" y="1325880"/>
            <a:ext cx="10728655" cy="502920"/>
          </a:xfrm>
          <a:prstGeom prst="rect">
            <a:avLst/>
          </a:prstGeom>
          <a:noFill/>
        </p:spPr>
        <p:txBody>
          <a:bodyPr wrap="square">
            <a:spAutoFit/>
          </a:bodyPr>
          <a:lstStyle/>
          <a:p>
            <a:pPr algn="l">
              <a:defRPr sz="2800" b="1">
                <a:solidFill>
                  <a:srgbClr val="22201C"/>
                </a:solidFill>
                <a:latin typeface="Fraunces"/>
              </a:defRPr>
            </a:pPr>
            <a:r>
              <a:t>Macro F1-score ranking at a glance</a:t>
            </a:r>
          </a:p>
        </p:txBody>
      </p:sp>
      <p:sp>
        <p:nvSpPr>
          <p:cNvPr id="4" name="TextBox 3"/>
          <p:cNvSpPr txBox="1"/>
          <p:nvPr/>
        </p:nvSpPr>
        <p:spPr>
          <a:xfrm>
            <a:off x="731520" y="2103120"/>
            <a:ext cx="8229600" cy="548640"/>
          </a:xfrm>
          <a:prstGeom prst="rect">
            <a:avLst/>
          </a:prstGeom>
          <a:noFill/>
        </p:spPr>
        <p:txBody>
          <a:bodyPr wrap="square">
            <a:spAutoFit/>
          </a:bodyPr>
          <a:lstStyle/>
          <a:p>
            <a:pPr algn="l">
              <a:defRPr sz="1300" b="0">
                <a:solidFill>
                  <a:srgbClr val="595754"/>
                </a:solidFill>
                <a:latin typeface="Work Sans"/>
              </a:defRPr>
            </a:pPr>
            <a:r>
              <a:t>The leaderboard is tightly packed near the top, which is typical of a clean benchmark dataset with strong geometric class structure.</a:t>
            </a:r>
          </a:p>
        </p:txBody>
      </p:sp>
      <p:sp>
        <p:nvSpPr>
          <p:cNvPr id="5" name="TextBox 4"/>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Results · comparison</a:t>
            </a:r>
          </a:p>
        </p:txBody>
      </p:sp>
      <p:sp>
        <p:nvSpPr>
          <p:cNvPr id="6" name="TextBox 5"/>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274320" y="91440"/>
            <a:ext cx="2286000" cy="914400"/>
          </a:xfrm>
          <a:prstGeom prst="rect">
            <a:avLst/>
          </a:prstGeom>
          <a:noFill/>
        </p:spPr>
        <p:txBody>
          <a:bodyPr wrap="square">
            <a:spAutoFit/>
          </a:bodyPr>
          <a:lstStyle/>
          <a:p>
            <a:pPr algn="l">
              <a:defRPr sz="6400" b="1">
                <a:solidFill>
                  <a:srgbClr val="DBD6CB"/>
                </a:solidFill>
                <a:latin typeface="Work Sans"/>
              </a:defRPr>
            </a:pPr>
            <a:r>
              <a:t>08</a:t>
            </a:r>
          </a:p>
        </p:txBody>
      </p:sp>
      <p:sp>
        <p:nvSpPr>
          <p:cNvPr id="3" name="TextBox 2"/>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Deployment interpretation</a:t>
            </a:r>
          </a:p>
        </p:txBody>
      </p:sp>
      <p:sp>
        <p:nvSpPr>
          <p:cNvPr id="4" name="TextBox 3"/>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Why Random Forest is the practical recommendation</a:t>
            </a:r>
          </a:p>
        </p:txBody>
      </p:sp>
      <p:sp>
        <p:nvSpPr>
          <p:cNvPr id="5" name="Rounded Rectangle 4"/>
          <p:cNvSpPr/>
          <p:nvPr/>
        </p:nvSpPr>
        <p:spPr>
          <a:xfrm>
            <a:off x="731520" y="1554480"/>
            <a:ext cx="5181447"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Joint-best accuracy</a:t>
            </a:r>
          </a:p>
          <a:p>
            <a:pPr>
              <a:defRPr sz="1100">
                <a:solidFill>
                  <a:srgbClr val="595754"/>
                </a:solidFill>
                <a:latin typeface="Work Sans"/>
              </a:defRPr>
            </a:pPr>
            <a:r>
              <a:t>It ties for the highest accuracy and macro F1, so adoption does not sacrifice predictive quality.</a:t>
            </a:r>
          </a:p>
        </p:txBody>
      </p:sp>
      <p:sp>
        <p:nvSpPr>
          <p:cNvPr id="6" name="Rounded Rectangle 5"/>
          <p:cNvSpPr/>
          <p:nvPr/>
        </p:nvSpPr>
        <p:spPr>
          <a:xfrm>
            <a:off x="6278727" y="1554480"/>
            <a:ext cx="5181447"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Interpretability</a:t>
            </a:r>
          </a:p>
          <a:p>
            <a:pPr>
              <a:defRPr sz="1100">
                <a:solidFill>
                  <a:srgbClr val="595754"/>
                </a:solidFill>
                <a:latin typeface="Work Sans"/>
              </a:defRPr>
            </a:pPr>
            <a:r>
              <a:t>It provides feature importance scores, making it easier to explain which seed properties drive classification.</a:t>
            </a:r>
          </a:p>
        </p:txBody>
      </p:sp>
      <p:sp>
        <p:nvSpPr>
          <p:cNvPr id="7" name="Rounded Rectangle 6"/>
          <p:cNvSpPr/>
          <p:nvPr/>
        </p:nvSpPr>
        <p:spPr>
          <a:xfrm>
            <a:off x="731520" y="2834640"/>
            <a:ext cx="5181447"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Operational simplicity</a:t>
            </a:r>
          </a:p>
          <a:p>
            <a:pPr>
              <a:defRPr sz="1100">
                <a:solidFill>
                  <a:srgbClr val="595754"/>
                </a:solidFill>
                <a:latin typeface="Work Sans"/>
              </a:defRPr>
            </a:pPr>
            <a:r>
              <a:t>It avoids kernel selection and margin tuning complexities that often make SVM deployment less transparent.</a:t>
            </a:r>
          </a:p>
        </p:txBody>
      </p:sp>
      <p:sp>
        <p:nvSpPr>
          <p:cNvPr id="8" name="Rounded Rectangle 7"/>
          <p:cNvSpPr/>
          <p:nvPr/>
        </p:nvSpPr>
        <p:spPr>
          <a:xfrm>
            <a:off x="6278727" y="2834640"/>
            <a:ext cx="5181447"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Robustness</a:t>
            </a:r>
          </a:p>
          <a:p>
            <a:pPr>
              <a:defRPr sz="1100">
                <a:solidFill>
                  <a:srgbClr val="595754"/>
                </a:solidFill>
                <a:latin typeface="Work Sans"/>
              </a:defRPr>
            </a:pPr>
            <a:r>
              <a:t>Ensemble trees generally handle non-linearity and correlated predictors well, matching the structure observed in EDA.</a:t>
            </a:r>
          </a:p>
        </p:txBody>
      </p:sp>
      <p:sp>
        <p:nvSpPr>
          <p:cNvPr id="9" name="TextBox 8"/>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Recommendation</a:t>
            </a:r>
          </a:p>
        </p:txBody>
      </p:sp>
      <p:sp>
        <p:nvSpPr>
          <p:cNvPr id="10" name="TextBox 9"/>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274320" y="91440"/>
            <a:ext cx="2286000" cy="914400"/>
          </a:xfrm>
          <a:prstGeom prst="rect">
            <a:avLst/>
          </a:prstGeom>
          <a:noFill/>
        </p:spPr>
        <p:txBody>
          <a:bodyPr wrap="square">
            <a:spAutoFit/>
          </a:bodyPr>
          <a:lstStyle/>
          <a:p>
            <a:pPr algn="l">
              <a:defRPr sz="6400" b="1">
                <a:solidFill>
                  <a:srgbClr val="DBD6CB"/>
                </a:solidFill>
                <a:latin typeface="Work Sans"/>
              </a:defRPr>
            </a:pPr>
            <a:r>
              <a:t>09</a:t>
            </a:r>
          </a:p>
        </p:txBody>
      </p:sp>
      <p:sp>
        <p:nvSpPr>
          <p:cNvPr id="3" name="TextBox 2"/>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Feature importance</a:t>
            </a:r>
          </a:p>
        </p:txBody>
      </p:sp>
      <p:sp>
        <p:nvSpPr>
          <p:cNvPr id="4" name="TextBox 3"/>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Most discriminative seed characteristics</a:t>
            </a:r>
          </a:p>
        </p:txBody>
      </p:sp>
      <p:sp>
        <p:nvSpPr>
          <p:cNvPr id="5" name="Rounded Rectangle 4"/>
          <p:cNvSpPr/>
          <p:nvPr/>
        </p:nvSpPr>
        <p:spPr>
          <a:xfrm>
            <a:off x="731520"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Compactness</a:t>
            </a:r>
          </a:p>
          <a:p>
            <a:pPr>
              <a:defRPr sz="1100">
                <a:solidFill>
                  <a:srgbClr val="595754"/>
                </a:solidFill>
                <a:latin typeface="Work Sans"/>
              </a:defRPr>
            </a:pPr>
            <a:r>
              <a:t>Identified as a top discriminative signal, reinforcing that seed shape regularity matters in distinguishing varieties.</a:t>
            </a:r>
          </a:p>
        </p:txBody>
      </p:sp>
      <p:sp>
        <p:nvSpPr>
          <p:cNvPr id="6" name="Rounded Rectangle 5"/>
          <p:cNvSpPr/>
          <p:nvPr/>
        </p:nvSpPr>
        <p:spPr>
          <a:xfrm>
            <a:off x="4429658"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Kernel Length</a:t>
            </a:r>
          </a:p>
          <a:p>
            <a:pPr>
              <a:defRPr sz="1100">
                <a:solidFill>
                  <a:srgbClr val="595754"/>
                </a:solidFill>
                <a:latin typeface="Work Sans"/>
              </a:defRPr>
            </a:pPr>
            <a:r>
              <a:t>A strong separator, consistent with both the correlation study and visible class differences in measured geometry.</a:t>
            </a:r>
          </a:p>
        </p:txBody>
      </p:sp>
      <p:sp>
        <p:nvSpPr>
          <p:cNvPr id="7" name="Rounded Rectangle 6"/>
          <p:cNvSpPr/>
          <p:nvPr/>
        </p:nvSpPr>
        <p:spPr>
          <a:xfrm>
            <a:off x="8127796"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Kernel Width</a:t>
            </a:r>
          </a:p>
          <a:p>
            <a:pPr>
              <a:defRPr sz="1100">
                <a:solidFill>
                  <a:srgbClr val="595754"/>
                </a:solidFill>
                <a:latin typeface="Work Sans"/>
              </a:defRPr>
            </a:pPr>
            <a:r>
              <a:t>Another high-value predictor that complements size-based discrimination across wheat classes.</a:t>
            </a:r>
          </a:p>
        </p:txBody>
      </p:sp>
      <p:sp>
        <p:nvSpPr>
          <p:cNvPr id="8" name="TextBox 7"/>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Explainability</a:t>
            </a:r>
          </a:p>
        </p:txBody>
      </p:sp>
      <p:sp>
        <p:nvSpPr>
          <p:cNvPr id="9" name="TextBox 8"/>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Unsupervised validation</a:t>
            </a:r>
          </a:p>
        </p:txBody>
      </p:sp>
      <p:sp>
        <p:nvSpPr>
          <p:cNvPr id="3" name="TextBox 2"/>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Clustering confirms natural structure in the data</a:t>
            </a:r>
          </a:p>
        </p:txBody>
      </p:sp>
      <p:sp>
        <p:nvSpPr>
          <p:cNvPr id="4" name="TextBox 3"/>
          <p:cNvSpPr txBox="1"/>
          <p:nvPr/>
        </p:nvSpPr>
        <p:spPr>
          <a:xfrm>
            <a:off x="731520" y="1554480"/>
            <a:ext cx="8229600" cy="3474720"/>
          </a:xfrm>
          <a:prstGeom prst="rect">
            <a:avLst/>
          </a:prstGeom>
          <a:noFill/>
        </p:spPr>
        <p:txBody>
          <a:bodyPr wrap="square">
            <a:spAutoFit/>
          </a:bodyPr>
          <a:lstStyle/>
          <a:p>
            <a:pPr>
              <a:spcAft>
                <a:spcPts val="600"/>
              </a:spcAft>
              <a:defRPr sz="1400">
                <a:solidFill>
                  <a:srgbClr val="22201C"/>
                </a:solidFill>
                <a:latin typeface="Work Sans"/>
              </a:defRPr>
            </a:pPr>
            <a:r>
              <a:t>•  Both methods recover meaningful structure despite never seeing class labels.</a:t>
            </a:r>
          </a:p>
          <a:p>
            <a:pPr>
              <a:spcAft>
                <a:spcPts val="600"/>
              </a:spcAft>
              <a:defRPr sz="1400">
                <a:solidFill>
                  <a:srgbClr val="22201C"/>
                </a:solidFill>
                <a:latin typeface="Work Sans"/>
              </a:defRPr>
            </a:pPr>
            <a:r>
              <a:t>•  Ward linkage performs slightly better, indicating hierarchical geometry in the feature space.</a:t>
            </a:r>
          </a:p>
          <a:p>
            <a:pPr>
              <a:spcAft>
                <a:spcPts val="600"/>
              </a:spcAft>
              <a:defRPr sz="1400">
                <a:solidFill>
                  <a:srgbClr val="22201C"/>
                </a:solidFill>
                <a:latin typeface="Work Sans"/>
              </a:defRPr>
            </a:pPr>
            <a:r>
              <a:t>•  The elbow analysis supports k equals 3, matching domain knowledge about the number of wheat varieties.</a:t>
            </a:r>
          </a:p>
        </p:txBody>
      </p:sp>
      <p:sp>
        <p:nvSpPr>
          <p:cNvPr id="5" name="TextBox 4"/>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Results · unsupervised</a:t>
            </a:r>
          </a:p>
        </p:txBody>
      </p:sp>
      <p:sp>
        <p:nvSpPr>
          <p:cNvPr id="6" name="TextBox 5"/>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274320" y="91440"/>
            <a:ext cx="2286000" cy="914400"/>
          </a:xfrm>
          <a:prstGeom prst="rect">
            <a:avLst/>
          </a:prstGeom>
          <a:noFill/>
        </p:spPr>
        <p:txBody>
          <a:bodyPr wrap="square">
            <a:spAutoFit/>
          </a:bodyPr>
          <a:lstStyle/>
          <a:p>
            <a:pPr algn="l">
              <a:defRPr sz="6400" b="1">
                <a:solidFill>
                  <a:srgbClr val="DBD6CB"/>
                </a:solidFill>
                <a:latin typeface="Work Sans"/>
              </a:defRPr>
            </a:pPr>
            <a:r>
              <a:t>11</a:t>
            </a:r>
          </a:p>
        </p:txBody>
      </p:sp>
      <p:sp>
        <p:nvSpPr>
          <p:cNvPr id="3" name="TextBox 2"/>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Statistical validation</a:t>
            </a:r>
          </a:p>
        </p:txBody>
      </p:sp>
      <p:sp>
        <p:nvSpPr>
          <p:cNvPr id="4" name="TextBox 3"/>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McNemar test shows no meaningful gap between the top two models</a:t>
            </a:r>
          </a:p>
        </p:txBody>
      </p:sp>
      <p:sp>
        <p:nvSpPr>
          <p:cNvPr id="5" name="Rounded Rectangle 4"/>
          <p:cNvSpPr/>
          <p:nvPr/>
        </p:nvSpPr>
        <p:spPr>
          <a:xfrm>
            <a:off x="731520"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39 Both Random Forest and SVM correct</a:t>
            </a:r>
          </a:p>
          <a:p>
            <a:pPr>
              <a:defRPr sz="1100">
                <a:solidFill>
                  <a:srgbClr val="595754"/>
                </a:solidFill>
                <a:latin typeface="Work Sans"/>
              </a:defRPr>
            </a:pPr>
            <a:r>
              <a:t>Both Random Forest and SVM correct</a:t>
            </a:r>
          </a:p>
        </p:txBody>
      </p:sp>
      <p:sp>
        <p:nvSpPr>
          <p:cNvPr id="6" name="Rounded Rectangle 5"/>
          <p:cNvSpPr/>
          <p:nvPr/>
        </p:nvSpPr>
        <p:spPr>
          <a:xfrm>
            <a:off x="4429658"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1 Random Forest correct, SVM wrong</a:t>
            </a:r>
          </a:p>
          <a:p>
            <a:pPr>
              <a:defRPr sz="1100">
                <a:solidFill>
                  <a:srgbClr val="595754"/>
                </a:solidFill>
                <a:latin typeface="Work Sans"/>
              </a:defRPr>
            </a:pPr>
            <a:r>
              <a:t>Random Forest correct, SVM wrong</a:t>
            </a:r>
          </a:p>
        </p:txBody>
      </p:sp>
      <p:sp>
        <p:nvSpPr>
          <p:cNvPr id="7" name="Rounded Rectangle 6"/>
          <p:cNvSpPr/>
          <p:nvPr/>
        </p:nvSpPr>
        <p:spPr>
          <a:xfrm>
            <a:off x="8127796" y="1554480"/>
            <a:ext cx="3332378"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1 Random Forest wrong, SVM correct</a:t>
            </a:r>
          </a:p>
          <a:p>
            <a:pPr>
              <a:defRPr sz="1100">
                <a:solidFill>
                  <a:srgbClr val="595754"/>
                </a:solidFill>
                <a:latin typeface="Work Sans"/>
              </a:defRPr>
            </a:pPr>
            <a:r>
              <a:t>Random Forest wrong, SVM correct</a:t>
            </a:r>
          </a:p>
        </p:txBody>
      </p:sp>
      <p:sp>
        <p:nvSpPr>
          <p:cNvPr id="8" name="TextBox 7"/>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Inference</a:t>
            </a:r>
          </a:p>
        </p:txBody>
      </p:sp>
      <p:sp>
        <p:nvSpPr>
          <p:cNvPr id="9" name="TextBox 8"/>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Discussion</a:t>
            </a:r>
          </a:p>
        </p:txBody>
      </p:sp>
      <p:sp>
        <p:nvSpPr>
          <p:cNvPr id="3" name="TextBox 2"/>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What the results mean in plain terms</a:t>
            </a:r>
          </a:p>
        </p:txBody>
      </p:sp>
      <p:sp>
        <p:nvSpPr>
          <p:cNvPr id="4" name="TextBox 3"/>
          <p:cNvSpPr txBox="1"/>
          <p:nvPr/>
        </p:nvSpPr>
        <p:spPr>
          <a:xfrm>
            <a:off x="731520" y="1554480"/>
            <a:ext cx="8229600" cy="3474720"/>
          </a:xfrm>
          <a:prstGeom prst="rect">
            <a:avLst/>
          </a:prstGeom>
          <a:noFill/>
        </p:spPr>
        <p:txBody>
          <a:bodyPr wrap="square">
            <a:spAutoFit/>
          </a:bodyPr>
          <a:lstStyle/>
          <a:p>
            <a:pPr>
              <a:spcAft>
                <a:spcPts val="600"/>
              </a:spcAft>
              <a:defRPr sz="1400">
                <a:solidFill>
                  <a:srgbClr val="22201C"/>
                </a:solidFill>
                <a:latin typeface="Work Sans"/>
              </a:defRPr>
            </a:pPr>
            <a:r>
              <a:t>•  The dataset is highly separable, which explains the strong performance across several different algorithms.</a:t>
            </a:r>
          </a:p>
          <a:p>
            <a:pPr>
              <a:spcAft>
                <a:spcPts val="600"/>
              </a:spcAft>
              <a:defRPr sz="1400">
                <a:solidFill>
                  <a:srgbClr val="22201C"/>
                </a:solidFill>
                <a:latin typeface="Work Sans"/>
              </a:defRPr>
            </a:pPr>
            <a:r>
              <a:t>•  Canadian seeds appear easiest to isolate, while Kama and Rosa show the most overlap and drive the remaining classification difficulty.</a:t>
            </a:r>
          </a:p>
          <a:p>
            <a:pPr>
              <a:spcAft>
                <a:spcPts val="600"/>
              </a:spcAft>
              <a:defRPr sz="1400">
                <a:solidFill>
                  <a:srgbClr val="22201C"/>
                </a:solidFill>
                <a:latin typeface="Work Sans"/>
              </a:defRPr>
            </a:pPr>
            <a:r>
              <a:t>•  Since multiple models reach near-ceiling performance, model choice should weigh interpretability and operational stability, not only a tiny metric edge.</a:t>
            </a:r>
          </a:p>
          <a:p>
            <a:pPr>
              <a:spcAft>
                <a:spcPts val="600"/>
              </a:spcAft>
              <a:defRPr sz="1400">
                <a:solidFill>
                  <a:srgbClr val="22201C"/>
                </a:solidFill>
                <a:latin typeface="Work Sans"/>
              </a:defRPr>
            </a:pPr>
            <a:r>
              <a:t>•  The close results also highlight why formal statistical comparison is useful when leaderboard differences are small.</a:t>
            </a:r>
          </a:p>
        </p:txBody>
      </p:sp>
      <p:sp>
        <p:nvSpPr>
          <p:cNvPr id="5" name="TextBox 4"/>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Discussion</a:t>
            </a:r>
          </a:p>
        </p:txBody>
      </p:sp>
      <p:sp>
        <p:nvSpPr>
          <p:cNvPr id="6" name="TextBox 5"/>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274320" y="91440"/>
            <a:ext cx="2286000" cy="914400"/>
          </a:xfrm>
          <a:prstGeom prst="rect">
            <a:avLst/>
          </a:prstGeom>
          <a:noFill/>
        </p:spPr>
        <p:txBody>
          <a:bodyPr wrap="square">
            <a:spAutoFit/>
          </a:bodyPr>
          <a:lstStyle/>
          <a:p>
            <a:pPr algn="l">
              <a:defRPr sz="6400" b="1">
                <a:solidFill>
                  <a:srgbClr val="DBD6CB"/>
                </a:solidFill>
                <a:latin typeface="Work Sans"/>
              </a:defRPr>
            </a:pPr>
            <a:r>
              <a:t>13</a:t>
            </a:r>
          </a:p>
        </p:txBody>
      </p:sp>
      <p:sp>
        <p:nvSpPr>
          <p:cNvPr id="3" name="TextBox 2"/>
          <p:cNvSpPr txBox="1"/>
          <p:nvPr/>
        </p:nvSpPr>
        <p:spPr>
          <a:xfrm>
            <a:off x="731520" y="457200"/>
            <a:ext cx="10728655" cy="320040"/>
          </a:xfrm>
          <a:prstGeom prst="rect">
            <a:avLst/>
          </a:prstGeom>
          <a:noFill/>
        </p:spPr>
        <p:txBody>
          <a:bodyPr wrap="square">
            <a:spAutoFit/>
          </a:bodyPr>
          <a:lstStyle/>
          <a:p>
            <a:pPr algn="l">
              <a:defRPr sz="1200" b="1">
                <a:solidFill>
                  <a:srgbClr val="9F2F2F"/>
                </a:solidFill>
                <a:latin typeface="Work Sans"/>
              </a:defRPr>
            </a:pPr>
            <a:r>
              <a:t>Limitations</a:t>
            </a:r>
          </a:p>
        </p:txBody>
      </p:sp>
      <p:sp>
        <p:nvSpPr>
          <p:cNvPr id="4" name="TextBox 3"/>
          <p:cNvSpPr txBox="1"/>
          <p:nvPr/>
        </p:nvSpPr>
        <p:spPr>
          <a:xfrm>
            <a:off x="731520" y="868680"/>
            <a:ext cx="10728655" cy="502920"/>
          </a:xfrm>
          <a:prstGeom prst="rect">
            <a:avLst/>
          </a:prstGeom>
          <a:noFill/>
        </p:spPr>
        <p:txBody>
          <a:bodyPr wrap="square">
            <a:spAutoFit/>
          </a:bodyPr>
          <a:lstStyle/>
          <a:p>
            <a:pPr algn="l">
              <a:defRPr sz="2800" b="1">
                <a:solidFill>
                  <a:srgbClr val="22201C"/>
                </a:solidFill>
                <a:latin typeface="Fraunces"/>
              </a:defRPr>
            </a:pPr>
            <a:r>
              <a:t>Important constraints on interpretation</a:t>
            </a:r>
          </a:p>
        </p:txBody>
      </p:sp>
      <p:sp>
        <p:nvSpPr>
          <p:cNvPr id="5" name="Rounded Rectangle 4"/>
          <p:cNvSpPr/>
          <p:nvPr/>
        </p:nvSpPr>
        <p:spPr>
          <a:xfrm>
            <a:off x="731520" y="1554480"/>
            <a:ext cx="5181447"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Small test set</a:t>
            </a:r>
          </a:p>
          <a:p>
            <a:pPr>
              <a:defRPr sz="1100">
                <a:solidFill>
                  <a:srgbClr val="595754"/>
                </a:solidFill>
                <a:latin typeface="Work Sans"/>
              </a:defRPr>
            </a:pPr>
            <a:r>
              <a:t>Only 42 observations were held out, limiting the statistical power of McNemar's test and widening uncertainty around all reported metrics.</a:t>
            </a:r>
          </a:p>
        </p:txBody>
      </p:sp>
      <p:sp>
        <p:nvSpPr>
          <p:cNvPr id="6" name="Rounded Rectangle 5"/>
          <p:cNvSpPr/>
          <p:nvPr/>
        </p:nvSpPr>
        <p:spPr>
          <a:xfrm>
            <a:off x="6278727" y="1554480"/>
            <a:ext cx="5181447"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Single split</a:t>
            </a:r>
          </a:p>
          <a:p>
            <a:pPr>
              <a:defRPr sz="1100">
                <a:solidFill>
                  <a:srgbClr val="595754"/>
                </a:solidFill>
                <a:latin typeface="Work Sans"/>
              </a:defRPr>
            </a:pPr>
            <a:r>
              <a:t>The evaluation reflects one train-test split, so results may vary slightly under repeated resampling or external validation.</a:t>
            </a:r>
          </a:p>
        </p:txBody>
      </p:sp>
      <p:sp>
        <p:nvSpPr>
          <p:cNvPr id="7" name="Rounded Rectangle 6"/>
          <p:cNvSpPr/>
          <p:nvPr/>
        </p:nvSpPr>
        <p:spPr>
          <a:xfrm>
            <a:off x="731520" y="2834640"/>
            <a:ext cx="5181447"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Benchmark cleanliness</a:t>
            </a:r>
          </a:p>
          <a:p>
            <a:pPr>
              <a:defRPr sz="1100">
                <a:solidFill>
                  <a:srgbClr val="595754"/>
                </a:solidFill>
                <a:latin typeface="Work Sans"/>
              </a:defRPr>
            </a:pPr>
            <a:r>
              <a:t>The Seeds dataset is balanced and well-behaved, unlike many real grain inspection settings with noise, imbalance, and unseen varieties.</a:t>
            </a:r>
          </a:p>
        </p:txBody>
      </p:sp>
      <p:sp>
        <p:nvSpPr>
          <p:cNvPr id="8" name="Rounded Rectangle 7"/>
          <p:cNvSpPr/>
          <p:nvPr/>
        </p:nvSpPr>
        <p:spPr>
          <a:xfrm>
            <a:off x="6278727" y="2834640"/>
            <a:ext cx="5181447" cy="10515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91440"/>
          <a:lstStyle/>
          <a:p>
            <a:pPr algn="ctr">
              <a:spcAft>
                <a:spcPts val="400"/>
              </a:spcAft>
              <a:defRPr sz="1400" b="1">
                <a:solidFill>
                  <a:srgbClr val="22201C"/>
                </a:solidFill>
                <a:latin typeface="Work Sans"/>
              </a:defRPr>
            </a:pPr>
            <a:r>
              <a:t>External validity</a:t>
            </a:r>
          </a:p>
          <a:p>
            <a:pPr>
              <a:defRPr sz="1100">
                <a:solidFill>
                  <a:srgbClr val="595754"/>
                </a:solidFill>
                <a:latin typeface="Work Sans"/>
              </a:defRPr>
            </a:pPr>
            <a:r>
              <a:t>Real deployment would need broader validation before assuming the same ranking in operational environments.</a:t>
            </a:r>
          </a:p>
        </p:txBody>
      </p:sp>
      <p:sp>
        <p:nvSpPr>
          <p:cNvPr id="9" name="TextBox 8"/>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Caveats</a:t>
            </a:r>
          </a:p>
        </p:txBody>
      </p:sp>
      <p:sp>
        <p:nvSpPr>
          <p:cNvPr id="10" name="TextBox 9"/>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0E4"/>
        </a:solidFill>
        <a:effectLst/>
      </p:bgPr>
    </p:bg>
    <p:spTree>
      <p:nvGrpSpPr>
        <p:cNvPr id="1" name=""/>
        <p:cNvGrpSpPr/>
        <p:nvPr/>
      </p:nvGrpSpPr>
      <p:grpSpPr/>
      <p:sp>
        <p:nvSpPr>
          <p:cNvPr id="2" name="TextBox 1"/>
          <p:cNvSpPr txBox="1"/>
          <p:nvPr/>
        </p:nvSpPr>
        <p:spPr>
          <a:xfrm>
            <a:off x="731520" y="914400"/>
            <a:ext cx="10728655" cy="320040"/>
          </a:xfrm>
          <a:prstGeom prst="rect">
            <a:avLst/>
          </a:prstGeom>
          <a:noFill/>
        </p:spPr>
        <p:txBody>
          <a:bodyPr wrap="square">
            <a:spAutoFit/>
          </a:bodyPr>
          <a:lstStyle/>
          <a:p>
            <a:pPr algn="l">
              <a:defRPr sz="1200" b="1">
                <a:solidFill>
                  <a:srgbClr val="9F2F2F"/>
                </a:solidFill>
                <a:latin typeface="Work Sans"/>
              </a:defRPr>
            </a:pPr>
            <a:r>
              <a:t>Conclusion</a:t>
            </a:r>
          </a:p>
        </p:txBody>
      </p:sp>
      <p:sp>
        <p:nvSpPr>
          <p:cNvPr id="3" name="TextBox 2"/>
          <p:cNvSpPr txBox="1"/>
          <p:nvPr/>
        </p:nvSpPr>
        <p:spPr>
          <a:xfrm>
            <a:off x="731520" y="1325880"/>
            <a:ext cx="10728655" cy="502920"/>
          </a:xfrm>
          <a:prstGeom prst="rect">
            <a:avLst/>
          </a:prstGeom>
          <a:noFill/>
        </p:spPr>
        <p:txBody>
          <a:bodyPr wrap="square">
            <a:spAutoFit/>
          </a:bodyPr>
          <a:lstStyle/>
          <a:p>
            <a:pPr algn="l">
              <a:defRPr sz="2800" b="1">
                <a:solidFill>
                  <a:srgbClr val="22201C"/>
                </a:solidFill>
                <a:latin typeface="Fraunces"/>
              </a:defRPr>
            </a:pPr>
            <a:r>
              <a:t>Final takeaways from the project</a:t>
            </a:r>
          </a:p>
        </p:txBody>
      </p:sp>
      <p:sp>
        <p:nvSpPr>
          <p:cNvPr id="4" name="TextBox 3"/>
          <p:cNvSpPr txBox="1"/>
          <p:nvPr/>
        </p:nvSpPr>
        <p:spPr>
          <a:xfrm>
            <a:off x="731520" y="2103120"/>
            <a:ext cx="9144000" cy="1097280"/>
          </a:xfrm>
          <a:prstGeom prst="rect">
            <a:avLst/>
          </a:prstGeom>
          <a:noFill/>
        </p:spPr>
        <p:txBody>
          <a:bodyPr wrap="square">
            <a:spAutoFit/>
          </a:bodyPr>
          <a:lstStyle/>
          <a:p>
            <a:pPr algn="l">
              <a:defRPr sz="2600" b="1">
                <a:solidFill>
                  <a:srgbClr val="22201C"/>
                </a:solidFill>
                <a:latin typeface="Fraunces"/>
              </a:defRPr>
            </a:pPr>
            <a:r>
              <a:t>Random Forest and SVM jointly led the benchmark, clustering methods independently confirmed class structure, and the final recommendation favored Random Forest for its accuracy, robustness, and interpretability.</a:t>
            </a:r>
          </a:p>
        </p:txBody>
      </p:sp>
      <p:sp>
        <p:nvSpPr>
          <p:cNvPr id="5" name="TextBox 4"/>
          <p:cNvSpPr txBox="1"/>
          <p:nvPr/>
        </p:nvSpPr>
        <p:spPr>
          <a:xfrm>
            <a:off x="731520" y="3474720"/>
            <a:ext cx="10728655" cy="320040"/>
          </a:xfrm>
          <a:prstGeom prst="rect">
            <a:avLst/>
          </a:prstGeom>
          <a:noFill/>
        </p:spPr>
        <p:txBody>
          <a:bodyPr wrap="square">
            <a:spAutoFit/>
          </a:bodyPr>
          <a:lstStyle/>
          <a:p>
            <a:pPr algn="l">
              <a:defRPr sz="1100" b="1">
                <a:solidFill>
                  <a:srgbClr val="C48A3A"/>
                </a:solidFill>
                <a:latin typeface="Work Sans"/>
              </a:defRPr>
            </a:pPr>
            <a:r>
              <a:t>Best accuracy 92.86%  ·  Best macro F1 0.9277  ·  Best clustering ARI 0.7970  ·  McNemar p-value 1.0</a:t>
            </a:r>
          </a:p>
        </p:txBody>
      </p:sp>
      <p:sp>
        <p:nvSpPr>
          <p:cNvPr id="6" name="TextBox 5"/>
          <p:cNvSpPr txBox="1"/>
          <p:nvPr/>
        </p:nvSpPr>
        <p:spPr>
          <a:xfrm>
            <a:off x="731520" y="3977640"/>
            <a:ext cx="8229600" cy="548640"/>
          </a:xfrm>
          <a:prstGeom prst="rect">
            <a:avLst/>
          </a:prstGeom>
          <a:noFill/>
        </p:spPr>
        <p:txBody>
          <a:bodyPr wrap="square">
            <a:spAutoFit/>
          </a:bodyPr>
          <a:lstStyle/>
          <a:p>
            <a:pPr algn="l">
              <a:defRPr sz="1300" b="0">
                <a:solidFill>
                  <a:srgbClr val="595754"/>
                </a:solidFill>
                <a:latin typeface="Work Sans"/>
              </a:defRPr>
            </a:pPr>
            <a:r>
              <a:t>Overall, the study demonstrates that a compact set of geometric seed measurements can support reliable wheat variety classification, while also showing the value of combining exploratory analysis, predictive modelling, unsupervised validation, and statistical testing in one coherent machine learning workflow.</a:t>
            </a:r>
          </a:p>
        </p:txBody>
      </p:sp>
      <p:sp>
        <p:nvSpPr>
          <p:cNvPr id="7" name="TextBox 6"/>
          <p:cNvSpPr txBox="1"/>
          <p:nvPr/>
        </p:nvSpPr>
        <p:spPr>
          <a:xfrm>
            <a:off x="731520" y="6355080"/>
            <a:ext cx="3657600" cy="274320"/>
          </a:xfrm>
          <a:prstGeom prst="rect">
            <a:avLst/>
          </a:prstGeom>
          <a:noFill/>
        </p:spPr>
        <p:txBody>
          <a:bodyPr wrap="square">
            <a:spAutoFit/>
          </a:bodyPr>
          <a:lstStyle/>
          <a:p>
            <a:pPr algn="l">
              <a:defRPr sz="900" b="0">
                <a:solidFill>
                  <a:srgbClr val="999999"/>
                </a:solidFill>
                <a:latin typeface="Work Sans"/>
              </a:defRPr>
            </a:pPr>
            <a:r>
              <a:t>End</a:t>
            </a:r>
          </a:p>
        </p:txBody>
      </p:sp>
      <p:sp>
        <p:nvSpPr>
          <p:cNvPr id="8" name="TextBox 7"/>
          <p:cNvSpPr txBox="1"/>
          <p:nvPr/>
        </p:nvSpPr>
        <p:spPr>
          <a:xfrm>
            <a:off x="9631375" y="6355080"/>
            <a:ext cx="1828800" cy="274320"/>
          </a:xfrm>
          <a:prstGeom prst="rect">
            <a:avLst/>
          </a:prstGeom>
          <a:noFill/>
        </p:spPr>
        <p:txBody>
          <a:bodyPr wrap="square">
            <a:spAutoFit/>
          </a:bodyPr>
          <a:lstStyle/>
          <a:p>
            <a:pPr algn="r">
              <a:defRPr sz="900" b="0">
                <a:solidFill>
                  <a:srgbClr val="999999"/>
                </a:solidFill>
                <a:latin typeface="Work Sans"/>
              </a:defRPr>
            </a:pPr>
            <a: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